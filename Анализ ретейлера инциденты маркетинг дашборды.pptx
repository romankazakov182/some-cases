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82" r:id="rId4"/>
    <p:sldId id="257" r:id="rId5"/>
    <p:sldId id="258" r:id="rId6"/>
    <p:sldId id="259" r:id="rId7"/>
    <p:sldId id="260" r:id="rId8"/>
    <p:sldId id="261" r:id="rId9"/>
    <p:sldId id="263" r:id="rId10"/>
    <p:sldId id="268" r:id="rId11"/>
    <p:sldId id="275" r:id="rId12"/>
    <p:sldId id="270" r:id="rId13"/>
    <p:sldId id="283" r:id="rId14"/>
    <p:sldId id="278" r:id="rId15"/>
    <p:sldId id="279" r:id="rId16"/>
    <p:sldId id="28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одержание" id="{65FDDC5D-0B2A-4E1F-B1C4-E7D24599760E}">
          <p14:sldIdLst>
            <p14:sldId id="256"/>
            <p14:sldId id="280"/>
            <p14:sldId id="282"/>
          </p14:sldIdLst>
        </p14:section>
        <p14:section name="Инциденты" id="{23AAFA1B-38D4-4552-A337-A2B62C46A3C5}">
          <p14:sldIdLst>
            <p14:sldId id="257"/>
            <p14:sldId id="258"/>
            <p14:sldId id="259"/>
            <p14:sldId id="260"/>
            <p14:sldId id="261"/>
            <p14:sldId id="263"/>
            <p14:sldId id="268"/>
          </p14:sldIdLst>
        </p14:section>
        <p14:section name="Маркетинговые активности" id="{1BE6682C-6498-4FE9-AB0A-A1A0626F93C9}">
          <p14:sldIdLst>
            <p14:sldId id="275"/>
            <p14:sldId id="270"/>
            <p14:sldId id="283"/>
            <p14:sldId id="278"/>
          </p14:sldIdLst>
        </p14:section>
        <p14:section name="Дашборд" id="{1B507DE7-C129-4FA4-B3D1-FEC75A8463CC}">
          <p14:sldIdLst>
            <p14:sldId id="279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1\&#1042;&#1086;&#1088;&#1082;&#1096;&#1086;&#1087;%20Excel%20-%200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2\&#1042;&#1086;&#1088;&#1082;&#1096;&#1086;&#1087;%20Excel-1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2\&#1042;&#1086;&#1088;&#1082;&#1096;&#1086;&#1087;%20Excel-1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2\&#1042;&#1086;&#1088;&#1082;&#1096;&#1086;&#1087;%20Excel-1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zak\Downloads\&#1040;&#1085;&#1072;&#1083;&#1080;&#1090;&#1080;&#1082;%20&#1076;&#1072;&#1085;&#1085;&#1099;&#1093;%20&#1086;&#1073;&#1091;&#1095;&#1077;&#1085;&#1080;&#1077;\&#1058;&#1077;&#1093;&#1085;&#1080;&#1095;&#1077;&#1089;&#1082;&#1086;&#1077;%20&#1079;&#1072;&#1076;&#1072;&#1085;&#1080;&#1077;%20Excel%202\&#1042;&#1086;&#1088;&#1082;&#1096;&#1086;&#1087;%20Excel-1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1!Сводная таблица1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Абсолютное</a:t>
            </a:r>
            <a:r>
              <a:rPr lang="ru-RU" sz="1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кол-во транзакций по торговым точкам</a:t>
            </a:r>
            <a:endParaRPr lang="ru-R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'Задание 1'!$B$1:$B$2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1'!$B$3:$B$7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47-420E-AC04-316450542856}"/>
            </c:ext>
          </c:extLst>
        </c:ser>
        <c:ser>
          <c:idx val="1"/>
          <c:order val="1"/>
          <c:tx>
            <c:strRef>
              <c:f>'Задание 1'!$C$1:$C$2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1'!$C$3:$C$7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47-420E-AC04-316450542856}"/>
            </c:ext>
          </c:extLst>
        </c:ser>
        <c:ser>
          <c:idx val="2"/>
          <c:order val="2"/>
          <c:tx>
            <c:strRef>
              <c:f>'Задание 1'!$D$1:$D$2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1'!$D$3:$D$7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47-420E-AC04-316450542856}"/>
            </c:ext>
          </c:extLst>
        </c:ser>
        <c:ser>
          <c:idx val="3"/>
          <c:order val="3"/>
          <c:tx>
            <c:strRef>
              <c:f>'Задание 1'!$E$1:$E$2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1'!$E$3:$E$7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47-420E-AC04-316450542856}"/>
            </c:ext>
          </c:extLst>
        </c:ser>
        <c:ser>
          <c:idx val="4"/>
          <c:order val="4"/>
          <c:tx>
            <c:strRef>
              <c:f>'Задание 1'!$F$1:$F$2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1'!$F$3:$F$7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47-420E-AC04-316450542856}"/>
            </c:ext>
          </c:extLst>
        </c:ser>
        <c:ser>
          <c:idx val="5"/>
          <c:order val="5"/>
          <c:tx>
            <c:strRef>
              <c:f>'Задание 1'!$G$1:$G$2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1'!$G$3:$G$7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147-420E-AC04-3164505428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67948223"/>
        <c:axId val="1069568783"/>
      </c:barChart>
      <c:catAx>
        <c:axId val="13679482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69568783"/>
        <c:crosses val="autoZero"/>
        <c:auto val="1"/>
        <c:lblAlgn val="ctr"/>
        <c:lblOffset val="100"/>
        <c:noMultiLvlLbl val="0"/>
      </c:catAx>
      <c:valAx>
        <c:axId val="1069568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Кол-во</a:t>
                </a:r>
                <a:r>
                  <a:rPr lang="ru-RU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67948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ayout>
        <c:manualLayout>
          <c:xMode val="edge"/>
          <c:yMode val="edge"/>
          <c:x val="0.72114883667738283"/>
          <c:y val="0.23314736114807766"/>
          <c:w val="0.26876501010203696"/>
          <c:h val="0.64503229310561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2!Сводная таблица2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Абсолютное кол-во транзакций 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2'!$B$1:$B$2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2'!$B$3:$B$7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08-4C2B-86A5-2DAEC1064CE8}"/>
            </c:ext>
          </c:extLst>
        </c:ser>
        <c:ser>
          <c:idx val="1"/>
          <c:order val="1"/>
          <c:tx>
            <c:strRef>
              <c:f>'Задание 2'!$C$1:$C$2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2'!$C$3:$C$7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08-4C2B-86A5-2DAEC1064CE8}"/>
            </c:ext>
          </c:extLst>
        </c:ser>
        <c:ser>
          <c:idx val="2"/>
          <c:order val="2"/>
          <c:tx>
            <c:strRef>
              <c:f>'Задание 2'!$D$1:$D$2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2'!$A$3:$A$7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2'!$D$3:$D$7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08-4C2B-86A5-2DAEC1064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9036143"/>
        <c:axId val="1489039983"/>
      </c:lineChart>
      <c:catAx>
        <c:axId val="1489036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039983"/>
        <c:crosses val="autoZero"/>
        <c:auto val="1"/>
        <c:lblAlgn val="ctr"/>
        <c:lblOffset val="100"/>
        <c:noMultiLvlLbl val="0"/>
      </c:catAx>
      <c:valAx>
        <c:axId val="1489039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036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2!Сводная таблица3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Абсолютное кол-во транзакций по серверам (смоделированное распределение нагрузки)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2'!$K$1:$K$2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2'!$J$3:$J$7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2'!$K$3:$K$7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BA-4A2F-B712-C45F4CFEE32C}"/>
            </c:ext>
          </c:extLst>
        </c:ser>
        <c:ser>
          <c:idx val="1"/>
          <c:order val="1"/>
          <c:tx>
            <c:strRef>
              <c:f>'Задание 2'!$L$1:$L$2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2'!$J$3:$J$7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2'!$L$3:$L$7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BA-4A2F-B712-C45F4CFEE32C}"/>
            </c:ext>
          </c:extLst>
        </c:ser>
        <c:ser>
          <c:idx val="2"/>
          <c:order val="2"/>
          <c:tx>
            <c:strRef>
              <c:f>'Задание 2'!$M$1:$M$2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'Задание 2'!$J$3:$J$7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'Задание 2'!$M$3:$M$7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BA-4A2F-B712-C45F4CFEE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9043823"/>
        <c:axId val="1489040463"/>
      </c:lineChart>
      <c:catAx>
        <c:axId val="14890438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040463"/>
        <c:crosses val="autoZero"/>
        <c:auto val="1"/>
        <c:lblAlgn val="ctr"/>
        <c:lblOffset val="100"/>
        <c:noMultiLvlLbl val="0"/>
      </c:catAx>
      <c:valAx>
        <c:axId val="1489040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9043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3!Сводная таблица4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Доли транзакций, проведенных на обычных кассах / кассах самообслуживания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'Задание 3'!$B$1:$B$2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3'!$A$3:$A$9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3'!$B$3:$B$9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B1-430B-8170-6D6D6EBA1A6C}"/>
            </c:ext>
          </c:extLst>
        </c:ser>
        <c:ser>
          <c:idx val="1"/>
          <c:order val="1"/>
          <c:tx>
            <c:strRef>
              <c:f>'Задание 3'!$C$1:$C$2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3'!$A$3:$A$9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3'!$C$3:$C$9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B1-430B-8170-6D6D6EBA1A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71437151"/>
        <c:axId val="1071438591"/>
      </c:barChart>
      <c:catAx>
        <c:axId val="1071437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Торговые точки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438591"/>
        <c:crosses val="autoZero"/>
        <c:auto val="1"/>
        <c:lblAlgn val="ctr"/>
        <c:lblOffset val="100"/>
        <c:noMultiLvlLbl val="0"/>
      </c:catAx>
      <c:valAx>
        <c:axId val="107143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43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3!Сводная таблица5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Доля самообслуживания в общем кол-ве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3'!$B$26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3'!$A$27:$A$31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'Задание 3'!$B$27:$B$31</c:f>
              <c:numCache>
                <c:formatCode>0.00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B9-44E7-A8B7-37BD72148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2889247"/>
        <c:axId val="1682887807"/>
      </c:lineChart>
      <c:catAx>
        <c:axId val="16828892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День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2887807"/>
        <c:crosses val="autoZero"/>
        <c:auto val="1"/>
        <c:lblAlgn val="ctr"/>
        <c:lblOffset val="100"/>
        <c:noMultiLvlLbl val="0"/>
      </c:catAx>
      <c:valAx>
        <c:axId val="1682887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Доля самообслуживания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288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- 0.xlsx]Задание 3!Сводная таблица7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продолжительность транзакции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3'!$B$15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'Задание 3'!$A$16:$A$20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'Задание 3'!$B$16:$B$20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EA-4C94-8119-3BE693CC6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8018399"/>
        <c:axId val="338020319"/>
      </c:lineChart>
      <c:catAx>
        <c:axId val="3380183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8020319"/>
        <c:crosses val="autoZero"/>
        <c:auto val="1"/>
        <c:lblAlgn val="ctr"/>
        <c:lblOffset val="100"/>
        <c:noMultiLvlLbl val="0"/>
      </c:catAx>
      <c:valAx>
        <c:axId val="338020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Секунды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8018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- 0.xlsx]Длительность транзакций!Сводная таблица1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</a:t>
            </a:r>
            <a:r>
              <a:rPr lang="ru-RU" baseline="0"/>
              <a:t> длительность транзакций по часам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'Длительность транзакций'!$B$3:$B$4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транзакций'!$B$5:$B$29</c:f>
              <c:numCache>
                <c:formatCode>General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C6-485C-B5C6-F7C652D771AA}"/>
            </c:ext>
          </c:extLst>
        </c:ser>
        <c:ser>
          <c:idx val="1"/>
          <c:order val="1"/>
          <c:tx>
            <c:strRef>
              <c:f>'Длительность транзакций'!$C$3:$C$4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транзакций'!$C$5:$C$29</c:f>
              <c:numCache>
                <c:formatCode>General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C6-485C-B5C6-F7C652D771AA}"/>
            </c:ext>
          </c:extLst>
        </c:ser>
        <c:ser>
          <c:idx val="2"/>
          <c:order val="2"/>
          <c:tx>
            <c:strRef>
              <c:f>'Длительность транзакций'!$D$3:$D$4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транзакций'!$D$5:$D$29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C6-485C-B5C6-F7C652D771AA}"/>
            </c:ext>
          </c:extLst>
        </c:ser>
        <c:ser>
          <c:idx val="3"/>
          <c:order val="3"/>
          <c:tx>
            <c:strRef>
              <c:f>'Длительность транзакций'!$E$3:$E$4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транзакций'!$E$5:$E$29</c:f>
              <c:numCache>
                <c:formatCode>General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DC6-485C-B5C6-F7C652D771AA}"/>
            </c:ext>
          </c:extLst>
        </c:ser>
        <c:ser>
          <c:idx val="4"/>
          <c:order val="4"/>
          <c:tx>
            <c:strRef>
              <c:f>'Длительность транзакций'!$F$3:$F$4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транзакций'!$F$5:$F$29</c:f>
              <c:numCache>
                <c:formatCode>General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DC6-485C-B5C6-F7C652D77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5632223"/>
        <c:axId val="1675626463"/>
      </c:lineChart>
      <c:catAx>
        <c:axId val="16756322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75626463"/>
        <c:crosses val="autoZero"/>
        <c:auto val="1"/>
        <c:lblAlgn val="ctr"/>
        <c:lblOffset val="100"/>
        <c:noMultiLvlLbl val="0"/>
      </c:catAx>
      <c:valAx>
        <c:axId val="1675626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</a:t>
                </a:r>
                <a:r>
                  <a:rPr lang="ru-RU" baseline="0"/>
                  <a:t> транзакции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75632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- 0.xlsx]Длительность тр по серверам!Сводная таблица7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Длительность транзакций по серверам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'Длительность тр по серверам'!$B$3:$B$4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серверам'!$A$5:$A$29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серверам'!$B$5:$B$29</c:f>
              <c:numCache>
                <c:formatCode>General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1C-4996-8143-7E44775E5C98}"/>
            </c:ext>
          </c:extLst>
        </c:ser>
        <c:ser>
          <c:idx val="1"/>
          <c:order val="1"/>
          <c:tx>
            <c:strRef>
              <c:f>'Длительность тр по серверам'!$C$3:$C$4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серверам'!$A$5:$A$29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серверам'!$C$5:$C$29</c:f>
              <c:numCache>
                <c:formatCode>General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1C-4996-8143-7E44775E5C98}"/>
            </c:ext>
          </c:extLst>
        </c:ser>
        <c:ser>
          <c:idx val="2"/>
          <c:order val="2"/>
          <c:tx>
            <c:strRef>
              <c:f>'Длительность тр по серверам'!$D$3:$D$4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серверам'!$A$5:$A$29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серверам'!$D$5:$D$29</c:f>
              <c:numCache>
                <c:formatCode>General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1C-4996-8143-7E44775E5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1838463"/>
        <c:axId val="1781823583"/>
      </c:lineChart>
      <c:catAx>
        <c:axId val="1781838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1823583"/>
        <c:crosses val="autoZero"/>
        <c:auto val="1"/>
        <c:lblAlgn val="ctr"/>
        <c:lblOffset val="100"/>
        <c:noMultiLvlLbl val="0"/>
      </c:catAx>
      <c:valAx>
        <c:axId val="1781823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</a:t>
                </a:r>
                <a:r>
                  <a:rPr lang="ru-RU" baseline="0"/>
                  <a:t> д</a:t>
                </a:r>
                <a:r>
                  <a:rPr lang="ru-RU"/>
                  <a:t>лительность транзакции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1838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- 0.xlsx]Длительность транзакций!Сводная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Транзакции торговых</a:t>
            </a:r>
            <a:r>
              <a:rPr lang="ru-RU" baseline="0"/>
              <a:t> точек по серверам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'Длительность транзакций'!$R$3:$R$4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'Длительность транзакций'!$Q$5:$Q$9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'Длительность транзакций'!$R$5:$R$9</c:f>
              <c:numCache>
                <c:formatCode>General</c:formatCode>
                <c:ptCount val="5"/>
                <c:pt idx="3">
                  <c:v>855</c:v>
                </c:pt>
                <c:pt idx="4">
                  <c:v>1119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2F-4E19-8A90-491DF91EAD97}"/>
            </c:ext>
          </c:extLst>
        </c:ser>
        <c:ser>
          <c:idx val="1"/>
          <c:order val="1"/>
          <c:tx>
            <c:strRef>
              <c:f>'Длительность транзакций'!$S$3:$S$4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'Длительность транзакций'!$Q$5:$Q$9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'Длительность транзакций'!$S$5:$S$9</c:f>
              <c:numCache>
                <c:formatCode>General</c:formatCode>
                <c:ptCount val="5"/>
                <c:pt idx="0">
                  <c:v>2775</c:v>
                </c:pt>
                <c:pt idx="1">
                  <c:v>1692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2F-4E19-8A90-491DF91EAD97}"/>
            </c:ext>
          </c:extLst>
        </c:ser>
        <c:ser>
          <c:idx val="2"/>
          <c:order val="2"/>
          <c:tx>
            <c:strRef>
              <c:f>'Длительность транзакций'!$T$3:$T$4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'Длительность транзакций'!$Q$5:$Q$9</c:f>
              <c:strCache>
                <c:ptCount val="5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Щорса, 26/3</c:v>
                </c:pt>
              </c:strCache>
            </c:strRef>
          </c:cat>
          <c:val>
            <c:numRef>
              <c:f>'Длительность транзакций'!$T$5:$T$9</c:f>
              <c:numCache>
                <c:formatCode>General</c:formatCode>
                <c:ptCount val="5"/>
                <c:pt idx="2">
                  <c:v>1408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2F-4E19-8A90-491DF91EA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3954048"/>
        <c:axId val="773970848"/>
      </c:barChart>
      <c:catAx>
        <c:axId val="7739540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Торговая точка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3970848"/>
        <c:crosses val="autoZero"/>
        <c:auto val="1"/>
        <c:lblAlgn val="ctr"/>
        <c:lblOffset val="100"/>
        <c:noMultiLvlLbl val="0"/>
      </c:catAx>
      <c:valAx>
        <c:axId val="773970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395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- 0.xlsx]Кол-во транзакций!Сводная таблица6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Кол-во транзакций в час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'Кол-во транзакций'!$B$3:$B$4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'Кол-во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'Кол-во транзакций'!$B$5:$B$29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65-48C6-8160-9F660DFDF685}"/>
            </c:ext>
          </c:extLst>
        </c:ser>
        <c:ser>
          <c:idx val="1"/>
          <c:order val="1"/>
          <c:tx>
            <c:strRef>
              <c:f>'Кол-во транзакций'!$C$3:$C$4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'Кол-во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'Кол-во транзакций'!$C$5:$C$29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65-48C6-8160-9F660DFDF685}"/>
            </c:ext>
          </c:extLst>
        </c:ser>
        <c:ser>
          <c:idx val="2"/>
          <c:order val="2"/>
          <c:tx>
            <c:strRef>
              <c:f>'Кол-во транзакций'!$D$3:$D$4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'Кол-во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'Кол-во транзакций'!$D$5:$D$29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65-48C6-8160-9F660DFDF685}"/>
            </c:ext>
          </c:extLst>
        </c:ser>
        <c:ser>
          <c:idx val="3"/>
          <c:order val="3"/>
          <c:tx>
            <c:strRef>
              <c:f>'Кол-во транзакций'!$E$3:$E$4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'Кол-во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'Кол-во транзакций'!$E$5:$E$29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65-48C6-8160-9F660DFDF685}"/>
            </c:ext>
          </c:extLst>
        </c:ser>
        <c:ser>
          <c:idx val="4"/>
          <c:order val="4"/>
          <c:tx>
            <c:strRef>
              <c:f>'Кол-во транзакций'!$F$3:$F$4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'Кол-во транзакций'!$A$5:$A$29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'Кол-во транзакций'!$F$5:$F$29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565-48C6-8160-9F660DFDF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1790463"/>
        <c:axId val="1781811103"/>
      </c:lineChart>
      <c:catAx>
        <c:axId val="1781790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1811103"/>
        <c:crosses val="autoZero"/>
        <c:auto val="1"/>
        <c:lblAlgn val="ctr"/>
        <c:lblOffset val="100"/>
        <c:noMultiLvlLbl val="0"/>
      </c:catAx>
      <c:valAx>
        <c:axId val="17818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8179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- 0.xlsx]Длительность транзакций!Сводная таблица5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Средневзвешенная скидка</a:t>
            </a:r>
            <a:r>
              <a:rPr lang="ru-RU" baseline="0"/>
              <a:t> в торговых точках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'Длительность транзакций'!$X$3:$X$4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'Длительность транзакций'!$W$5:$W$28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'Длительность транзакций'!$X$5:$X$28</c:f>
              <c:numCache>
                <c:formatCode>0.00%</c:formatCode>
                <c:ptCount val="24"/>
                <c:pt idx="0">
                  <c:v>1.7025715759885072E-2</c:v>
                </c:pt>
                <c:pt idx="1">
                  <c:v>9.6680683081001289E-3</c:v>
                </c:pt>
                <c:pt idx="2">
                  <c:v>8.0360682059800025E-3</c:v>
                </c:pt>
                <c:pt idx="3">
                  <c:v>1.329102658815297E-2</c:v>
                </c:pt>
                <c:pt idx="4">
                  <c:v>1.8418787360142321E-2</c:v>
                </c:pt>
                <c:pt idx="5">
                  <c:v>1.2023593434879564E-2</c:v>
                </c:pt>
                <c:pt idx="6">
                  <c:v>1.3223359651528207E-2</c:v>
                </c:pt>
                <c:pt idx="7">
                  <c:v>1.3094068162948771E-2</c:v>
                </c:pt>
                <c:pt idx="8">
                  <c:v>1.3328556932172395E-2</c:v>
                </c:pt>
                <c:pt idx="9">
                  <c:v>1.5835851091895177E-2</c:v>
                </c:pt>
                <c:pt idx="10">
                  <c:v>1.529517290748275E-2</c:v>
                </c:pt>
                <c:pt idx="11">
                  <c:v>1.8809725688693719E-2</c:v>
                </c:pt>
                <c:pt idx="12">
                  <c:v>1.1186974210790053E-2</c:v>
                </c:pt>
                <c:pt idx="13">
                  <c:v>2.1773023422909595E-2</c:v>
                </c:pt>
                <c:pt idx="14">
                  <c:v>2.1496179207283153E-2</c:v>
                </c:pt>
                <c:pt idx="15">
                  <c:v>2.1000599278866286E-2</c:v>
                </c:pt>
                <c:pt idx="16">
                  <c:v>1.3588386796486282E-2</c:v>
                </c:pt>
                <c:pt idx="17">
                  <c:v>1.2313134870968865E-2</c:v>
                </c:pt>
                <c:pt idx="18">
                  <c:v>1.7174268313194747E-2</c:v>
                </c:pt>
                <c:pt idx="19">
                  <c:v>1.5848367993732945E-2</c:v>
                </c:pt>
                <c:pt idx="20">
                  <c:v>1.8118847182480264E-2</c:v>
                </c:pt>
                <c:pt idx="21">
                  <c:v>1.8353393765685681E-2</c:v>
                </c:pt>
                <c:pt idx="22">
                  <c:v>1.3220757928928508E-2</c:v>
                </c:pt>
                <c:pt idx="23">
                  <c:v>1.3930843959856954E-2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45-4079-B454-58AD51EC1470}"/>
            </c:ext>
          </c:extLst>
        </c:ser>
        <c:ser>
          <c:idx val="1"/>
          <c:order val="1"/>
          <c:tx>
            <c:strRef>
              <c:f>'Длительность транзакций'!$Y$3:$Y$4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'Длительность транзакций'!$W$5:$W$28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'Длительность транзакций'!$Y$5:$Y$28</c:f>
              <c:numCache>
                <c:formatCode>0.00%</c:formatCode>
                <c:ptCount val="24"/>
                <c:pt idx="0">
                  <c:v>6.8873606316370477E-3</c:v>
                </c:pt>
                <c:pt idx="1">
                  <c:v>7.7822523255790498E-3</c:v>
                </c:pt>
                <c:pt idx="2">
                  <c:v>8.2087228088426091E-3</c:v>
                </c:pt>
                <c:pt idx="3">
                  <c:v>7.5893735956950774E-3</c:v>
                </c:pt>
                <c:pt idx="4">
                  <c:v>6.2283640623467468E-3</c:v>
                </c:pt>
                <c:pt idx="5">
                  <c:v>4.5620525665880339E-3</c:v>
                </c:pt>
                <c:pt idx="6">
                  <c:v>9.3092361310473017E-3</c:v>
                </c:pt>
                <c:pt idx="7">
                  <c:v>5.3221950706771508E-3</c:v>
                </c:pt>
                <c:pt idx="8">
                  <c:v>7.5575278873922097E-3</c:v>
                </c:pt>
                <c:pt idx="9">
                  <c:v>7.4116248576206138E-3</c:v>
                </c:pt>
                <c:pt idx="10">
                  <c:v>6.9812432204496462E-3</c:v>
                </c:pt>
                <c:pt idx="11">
                  <c:v>9.2491465910131652E-3</c:v>
                </c:pt>
                <c:pt idx="12">
                  <c:v>1.0817959764293105E-2</c:v>
                </c:pt>
                <c:pt idx="13">
                  <c:v>1.0217128015212238E-2</c:v>
                </c:pt>
                <c:pt idx="14">
                  <c:v>1.1424538661881235E-2</c:v>
                </c:pt>
                <c:pt idx="15">
                  <c:v>8.3864382910603906E-3</c:v>
                </c:pt>
                <c:pt idx="16">
                  <c:v>7.8533432780367868E-3</c:v>
                </c:pt>
                <c:pt idx="17">
                  <c:v>6.558305553181187E-3</c:v>
                </c:pt>
                <c:pt idx="18">
                  <c:v>1.0359889408256783E-2</c:v>
                </c:pt>
                <c:pt idx="19">
                  <c:v>1.201981707964761E-2</c:v>
                </c:pt>
                <c:pt idx="20">
                  <c:v>6.5671140381675618E-3</c:v>
                </c:pt>
                <c:pt idx="21">
                  <c:v>7.9389829200716966E-3</c:v>
                </c:pt>
                <c:pt idx="22">
                  <c:v>1.1151570301919708E-2</c:v>
                </c:pt>
                <c:pt idx="23">
                  <c:v>8.6889874647247834E-3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45-4079-B454-58AD51EC1470}"/>
            </c:ext>
          </c:extLst>
        </c:ser>
        <c:ser>
          <c:idx val="2"/>
          <c:order val="2"/>
          <c:tx>
            <c:strRef>
              <c:f>'Длительность транзакций'!$Z$3:$Z$4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'Длительность транзакций'!$W$5:$W$28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'Длительность транзакций'!$Z$5:$Z$28</c:f>
              <c:numCache>
                <c:formatCode>0.00%</c:formatCode>
                <c:ptCount val="24"/>
                <c:pt idx="0">
                  <c:v>6.8680606818044294E-3</c:v>
                </c:pt>
                <c:pt idx="1">
                  <c:v>1.2644134509835432E-2</c:v>
                </c:pt>
                <c:pt idx="2">
                  <c:v>7.363036356347356E-3</c:v>
                </c:pt>
                <c:pt idx="3">
                  <c:v>5.2610900639940049E-3</c:v>
                </c:pt>
                <c:pt idx="4">
                  <c:v>6.2016955637128326E-3</c:v>
                </c:pt>
                <c:pt idx="5">
                  <c:v>6.9124127805468994E-3</c:v>
                </c:pt>
                <c:pt idx="6">
                  <c:v>5.7162807691480792E-3</c:v>
                </c:pt>
                <c:pt idx="7">
                  <c:v>4.855703025650214E-3</c:v>
                </c:pt>
                <c:pt idx="8">
                  <c:v>8.9603121713705373E-3</c:v>
                </c:pt>
                <c:pt idx="9">
                  <c:v>3.6531485997530928E-3</c:v>
                </c:pt>
                <c:pt idx="10">
                  <c:v>6.9483345212969722E-3</c:v>
                </c:pt>
                <c:pt idx="11">
                  <c:v>1.1313066384793506E-2</c:v>
                </c:pt>
                <c:pt idx="12">
                  <c:v>8.6509028167528323E-3</c:v>
                </c:pt>
                <c:pt idx="13">
                  <c:v>5.4873093615267089E-3</c:v>
                </c:pt>
                <c:pt idx="14">
                  <c:v>1.0727149312167219E-2</c:v>
                </c:pt>
                <c:pt idx="15">
                  <c:v>9.3048768914557791E-3</c:v>
                </c:pt>
                <c:pt idx="16">
                  <c:v>5.423608198101117E-3</c:v>
                </c:pt>
                <c:pt idx="17">
                  <c:v>5.3164804033941099E-3</c:v>
                </c:pt>
                <c:pt idx="18">
                  <c:v>7.266618911117859E-3</c:v>
                </c:pt>
                <c:pt idx="19">
                  <c:v>1.0936714340238225E-2</c:v>
                </c:pt>
                <c:pt idx="20">
                  <c:v>1.0226772441780371E-2</c:v>
                </c:pt>
                <c:pt idx="21">
                  <c:v>7.3880594738194635E-3</c:v>
                </c:pt>
                <c:pt idx="22">
                  <c:v>1.1896021555309166E-2</c:v>
                </c:pt>
                <c:pt idx="23">
                  <c:v>5.4922202423156085E-3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E45-4079-B454-58AD51EC1470}"/>
            </c:ext>
          </c:extLst>
        </c:ser>
        <c:ser>
          <c:idx val="3"/>
          <c:order val="3"/>
          <c:tx>
            <c:strRef>
              <c:f>'Длительность транзакций'!$AA$3:$AA$4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'Длительность транзакций'!$W$5:$W$28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'Длительность транзакций'!$AA$5:$AA$28</c:f>
              <c:numCache>
                <c:formatCode>0.00%</c:formatCode>
                <c:ptCount val="24"/>
                <c:pt idx="0">
                  <c:v>3.1580481347124618E-3</c:v>
                </c:pt>
                <c:pt idx="1">
                  <c:v>3.5972467312078036E-3</c:v>
                </c:pt>
                <c:pt idx="2">
                  <c:v>2.3515518620164035E-3</c:v>
                </c:pt>
                <c:pt idx="3">
                  <c:v>3.0673642158130063E-3</c:v>
                </c:pt>
                <c:pt idx="4">
                  <c:v>5.0114457100362501E-3</c:v>
                </c:pt>
                <c:pt idx="5">
                  <c:v>1.6324612845890272E-3</c:v>
                </c:pt>
                <c:pt idx="6">
                  <c:v>4.3910037594344182E-3</c:v>
                </c:pt>
                <c:pt idx="7">
                  <c:v>5.0680847629316185E-3</c:v>
                </c:pt>
                <c:pt idx="8">
                  <c:v>6.5917246516310505E-3</c:v>
                </c:pt>
                <c:pt idx="9">
                  <c:v>1.5518475979788046E-3</c:v>
                </c:pt>
                <c:pt idx="10">
                  <c:v>5.7240429229791718E-3</c:v>
                </c:pt>
                <c:pt idx="11">
                  <c:v>4.9414035330530215E-3</c:v>
                </c:pt>
                <c:pt idx="12">
                  <c:v>3.6660592221993854E-3</c:v>
                </c:pt>
                <c:pt idx="13">
                  <c:v>6.3046991753310539E-3</c:v>
                </c:pt>
                <c:pt idx="14">
                  <c:v>4.4891553598456454E-3</c:v>
                </c:pt>
                <c:pt idx="15">
                  <c:v>4.6965670500602958E-3</c:v>
                </c:pt>
                <c:pt idx="16">
                  <c:v>4.6923439152598053E-3</c:v>
                </c:pt>
                <c:pt idx="17">
                  <c:v>6.7642455530096046E-3</c:v>
                </c:pt>
                <c:pt idx="18">
                  <c:v>5.9452809297551321E-3</c:v>
                </c:pt>
                <c:pt idx="19">
                  <c:v>2.9617975638595441E-3</c:v>
                </c:pt>
                <c:pt idx="20">
                  <c:v>5.5786010669730607E-3</c:v>
                </c:pt>
                <c:pt idx="21">
                  <c:v>6.1718048134960356E-3</c:v>
                </c:pt>
                <c:pt idx="22">
                  <c:v>4.9557546744753416E-3</c:v>
                </c:pt>
                <c:pt idx="23">
                  <c:v>7.438885361337441E-3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E45-4079-B454-58AD51EC1470}"/>
            </c:ext>
          </c:extLst>
        </c:ser>
        <c:ser>
          <c:idx val="4"/>
          <c:order val="4"/>
          <c:tx>
            <c:strRef>
              <c:f>'Длительность транзакций'!$AB$3:$AB$4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'Длительность транзакций'!$W$5:$W$28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'Длительность транзакций'!$AB$5:$AB$28</c:f>
              <c:numCache>
                <c:formatCode>0.00%</c:formatCode>
                <c:ptCount val="24"/>
                <c:pt idx="0">
                  <c:v>5.289289321271152E-3</c:v>
                </c:pt>
                <c:pt idx="1">
                  <c:v>5.9781349424907404E-3</c:v>
                </c:pt>
                <c:pt idx="2">
                  <c:v>5.3393623336347095E-3</c:v>
                </c:pt>
                <c:pt idx="3">
                  <c:v>4.8065724549777302E-3</c:v>
                </c:pt>
                <c:pt idx="4">
                  <c:v>5.1182833292817784E-3</c:v>
                </c:pt>
                <c:pt idx="5">
                  <c:v>6.5699623553042335E-3</c:v>
                </c:pt>
                <c:pt idx="6">
                  <c:v>7.1015436637390838E-3</c:v>
                </c:pt>
                <c:pt idx="7">
                  <c:v>5.5644516491156143E-3</c:v>
                </c:pt>
                <c:pt idx="8">
                  <c:v>6.8808203419508688E-3</c:v>
                </c:pt>
                <c:pt idx="9">
                  <c:v>5.7252424662536886E-3</c:v>
                </c:pt>
                <c:pt idx="10">
                  <c:v>3.7968391666004862E-3</c:v>
                </c:pt>
                <c:pt idx="11">
                  <c:v>3.2830348746503419E-3</c:v>
                </c:pt>
                <c:pt idx="12">
                  <c:v>6.0876997748807015E-3</c:v>
                </c:pt>
                <c:pt idx="13">
                  <c:v>2.8092139206823434E-3</c:v>
                </c:pt>
                <c:pt idx="14">
                  <c:v>4.1026719067562582E-3</c:v>
                </c:pt>
                <c:pt idx="15">
                  <c:v>5.2274351208042502E-3</c:v>
                </c:pt>
                <c:pt idx="16">
                  <c:v>8.4545931548107977E-3</c:v>
                </c:pt>
                <c:pt idx="17">
                  <c:v>7.1722275724006588E-3</c:v>
                </c:pt>
                <c:pt idx="18">
                  <c:v>5.3992636800606481E-3</c:v>
                </c:pt>
                <c:pt idx="19">
                  <c:v>5.0153338779512094E-3</c:v>
                </c:pt>
                <c:pt idx="20">
                  <c:v>6.7455610141374496E-3</c:v>
                </c:pt>
                <c:pt idx="21">
                  <c:v>8.3274299266730151E-3</c:v>
                </c:pt>
                <c:pt idx="22">
                  <c:v>6.5141337498360527E-3</c:v>
                </c:pt>
                <c:pt idx="23">
                  <c:v>7.9975246251329703E-3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E45-4079-B454-58AD51EC1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96367"/>
        <c:axId val="1883887"/>
      </c:lineChart>
      <c:catAx>
        <c:axId val="189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3887"/>
        <c:crosses val="autoZero"/>
        <c:auto val="1"/>
        <c:lblAlgn val="ctr"/>
        <c:lblOffset val="100"/>
        <c:noMultiLvlLbl val="0"/>
      </c:catAx>
      <c:valAx>
        <c:axId val="1883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Размер средневзвешенной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6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 - 0.xlsx]Длительность тр по платеж. сист!Сводная таблица8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</a:t>
            </a:r>
            <a:r>
              <a:rPr lang="ru-RU" baseline="0"/>
              <a:t> длительность транзакции по часам в платежных системах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'Длительность тр по платеж. сист'!$B$3:$B$4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платеж. сист'!$A$5:$A$29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платеж. сист'!$B$5:$B$29</c:f>
              <c:numCache>
                <c:formatCode>General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A6-4E56-8384-54D509EC3355}"/>
            </c:ext>
          </c:extLst>
        </c:ser>
        <c:ser>
          <c:idx val="1"/>
          <c:order val="1"/>
          <c:tx>
            <c:strRef>
              <c:f>'Длительность тр по платеж. сист'!$C$3:$C$4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платеж. сист'!$A$5:$A$29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платеж. сист'!$C$5:$C$29</c:f>
              <c:numCache>
                <c:formatCode>General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A6-4E56-8384-54D509EC3355}"/>
            </c:ext>
          </c:extLst>
        </c:ser>
        <c:ser>
          <c:idx val="2"/>
          <c:order val="2"/>
          <c:tx>
            <c:strRef>
              <c:f>'Длительность тр по платеж. сист'!$D$3:$D$4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'Длительность тр по платеж. сист'!$A$5:$A$29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  <c:lvl>
                  <c:pt idx="0">
                    <c:v>01.сен</c:v>
                  </c:pt>
                </c:lvl>
              </c:multiLvlStrCache>
            </c:multiLvlStrRef>
          </c:cat>
          <c:val>
            <c:numRef>
              <c:f>'Длительность тр по платеж. сист'!$D$5:$D$29</c:f>
              <c:numCache>
                <c:formatCode>General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A6-4E56-8384-54D509EC3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0663759"/>
        <c:axId val="1870676719"/>
      </c:lineChart>
      <c:catAx>
        <c:axId val="1870663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0676719"/>
        <c:crosses val="autoZero"/>
        <c:auto val="1"/>
        <c:lblAlgn val="ctr"/>
        <c:lblOffset val="100"/>
        <c:noMultiLvlLbl val="0"/>
      </c:catAx>
      <c:valAx>
        <c:axId val="187067671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транзакции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0663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Excel-1.xlsx]Задание 1!Сводная таблица17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 длительность транзакции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1'!$B$7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1'!$A$8:$A$11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1'!$B$8:$B$11</c:f>
              <c:numCache>
                <c:formatCode>0.0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BC-45E2-BC60-781394583D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8062896"/>
        <c:axId val="788074896"/>
      </c:barChart>
      <c:catAx>
        <c:axId val="788062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88074896"/>
        <c:crosses val="autoZero"/>
        <c:auto val="1"/>
        <c:lblAlgn val="ctr"/>
        <c:lblOffset val="100"/>
        <c:noMultiLvlLbl val="0"/>
      </c:catAx>
      <c:valAx>
        <c:axId val="788074896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88062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Excel-1.xlsx]Задание 1!Сводная таблица18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Показатели длительности и кол-ва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1'!$B$18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1'!$A$19:$A$22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1'!$B$19:$B$22</c:f>
              <c:numCache>
                <c:formatCode>0.0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1D-4C2C-9EDD-2A1688752B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168992"/>
        <c:axId val="492171392"/>
      </c:barChart>
      <c:lineChart>
        <c:grouping val="standard"/>
        <c:varyColors val="0"/>
        <c:ser>
          <c:idx val="1"/>
          <c:order val="1"/>
          <c:tx>
            <c:strRef>
              <c:f>'Задание 1'!$C$18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1'!$A$19:$A$22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1'!$C$19:$C$22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1D-4C2C-9EDD-2A1688752B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8088816"/>
        <c:axId val="788089296"/>
      </c:lineChart>
      <c:catAx>
        <c:axId val="492168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92171392"/>
        <c:crosses val="autoZero"/>
        <c:auto val="1"/>
        <c:lblAlgn val="ctr"/>
        <c:lblOffset val="100"/>
        <c:noMultiLvlLbl val="0"/>
      </c:catAx>
      <c:valAx>
        <c:axId val="4921713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</a:t>
                </a:r>
                <a:r>
                  <a:rPr lang="ru-RU" baseline="0"/>
                  <a:t> длительность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92168992"/>
        <c:crosses val="autoZero"/>
        <c:crossBetween val="between"/>
      </c:valAx>
      <c:valAx>
        <c:axId val="78808929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88088816"/>
        <c:crosses val="max"/>
        <c:crossBetween val="between"/>
      </c:valAx>
      <c:catAx>
        <c:axId val="7880888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880892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Excel-1.xlsx]Задание 1!Сводная таблица19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Показатели длительности и кол-ва транзакций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1'!$B$28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'Задание 1'!$A$29:$A$32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1'!$B$29:$B$32</c:f>
              <c:numCache>
                <c:formatCode>0.0</c:formatCode>
                <c:ptCount val="3"/>
                <c:pt idx="0">
                  <c:v>141.45841391557175</c:v>
                </c:pt>
                <c:pt idx="1">
                  <c:v>96.853896101268447</c:v>
                </c:pt>
                <c:pt idx="2">
                  <c:v>96.28673833869999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1D-42D4-A7D7-5B9B587D7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0191632"/>
        <c:axId val="880216112"/>
      </c:barChart>
      <c:lineChart>
        <c:grouping val="standard"/>
        <c:varyColors val="0"/>
        <c:ser>
          <c:idx val="1"/>
          <c:order val="1"/>
          <c:tx>
            <c:strRef>
              <c:f>'Задание 1'!$C$28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'Задание 1'!$A$29:$A$32</c:f>
              <c:strCache>
                <c:ptCount val="3"/>
                <c:pt idx="0">
                  <c:v>05.сен</c:v>
                </c:pt>
                <c:pt idx="1">
                  <c:v>06.сен</c:v>
                </c:pt>
                <c:pt idx="2">
                  <c:v>07.сен</c:v>
                </c:pt>
              </c:strCache>
            </c:strRef>
          </c:cat>
          <c:val>
            <c:numRef>
              <c:f>'Задание 1'!$C$29:$C$32</c:f>
              <c:numCache>
                <c:formatCode>General</c:formatCode>
                <c:ptCount val="3"/>
                <c:pt idx="0">
                  <c:v>517</c:v>
                </c:pt>
                <c:pt idx="1">
                  <c:v>616</c:v>
                </c:pt>
                <c:pt idx="2">
                  <c:v>558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1D-42D4-A7D7-5B9B587D7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218512"/>
        <c:axId val="880192112"/>
      </c:lineChart>
      <c:catAx>
        <c:axId val="88019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216112"/>
        <c:crosses val="autoZero"/>
        <c:auto val="1"/>
        <c:lblAlgn val="ctr"/>
        <c:lblOffset val="100"/>
        <c:noMultiLvlLbl val="0"/>
      </c:catAx>
      <c:valAx>
        <c:axId val="8802161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транзакции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191632"/>
        <c:crosses val="autoZero"/>
        <c:crossBetween val="between"/>
      </c:valAx>
      <c:valAx>
        <c:axId val="88019211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218512"/>
        <c:crosses val="max"/>
        <c:crossBetween val="between"/>
      </c:valAx>
      <c:catAx>
        <c:axId val="880218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801921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[Воркшоп Excel-1.xlsx]Задание 3!Сводная таблица2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600" baseline="0"/>
              <a:t>Общая экономия клиентов с разбивкой по глубине скидки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3'!$B$1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'Задание 3'!$B$2:$B$6</c:f>
              <c:numCache>
                <c:formatCode>#\ ##0\ "₽"</c:formatCode>
                <c:ptCount val="5"/>
                <c:pt idx="0">
                  <c:v>0</c:v>
                </c:pt>
                <c:pt idx="1">
                  <c:v>244869.60859999974</c:v>
                </c:pt>
                <c:pt idx="2">
                  <c:v>718949.45110000006</c:v>
                </c:pt>
                <c:pt idx="3">
                  <c:v>1226936.2968000013</c:v>
                </c:pt>
                <c:pt idx="4">
                  <c:v>1703133.4768999999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9B-4765-9BAA-940560073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0214672"/>
        <c:axId val="880196912"/>
      </c:barChart>
      <c:catAx>
        <c:axId val="8802146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 baseline="0"/>
                  <a:t>Бины скидок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196912"/>
        <c:crosses val="autoZero"/>
        <c:auto val="1"/>
        <c:lblAlgn val="ctr"/>
        <c:lblOffset val="100"/>
        <c:noMultiLvlLbl val="0"/>
      </c:catAx>
      <c:valAx>
        <c:axId val="880196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 baseline="0"/>
                  <a:t>Размер экономии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214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B9732-C426-4FC2-80A2-AD744D3742D5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67961-FA8E-4FE0-B634-83D1B5D9B9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8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67961-FA8E-4FE0-B634-83D1B5D9B93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3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BA5E-B438-2DDF-24F1-E708FE9B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2B82D4-E546-9F41-65B1-9120C410A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A7D74A-CA8A-3273-1985-0B3E9E9D3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06AE2E-5532-0F35-C15A-CCD94A6A4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67961-FA8E-4FE0-B634-83D1B5D9B93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12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79287-A158-30A2-F5BF-12EBFA8A0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068E3D-B16A-9048-CC5A-0BB990011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B16B0F-0F86-6301-1FE8-08B4B0EF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6731-F372-48F0-A93E-4E3945FD5BB5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291F1-465C-884F-CE12-92048DFD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18B4C7-7AE7-5681-2244-438111B7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02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944BC-5E9B-36A4-7A61-DCB955DD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34C8F-C393-62CB-B817-6C9AA03F4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B875CA-80CC-11C3-9C23-6AFD395D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CD9D-1B01-4105-B692-CF02AEB5F4AD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C1750-ED8C-764F-979B-F6073E05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94BE9-53B1-6009-D03C-728F4DE0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08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53D0-9B53-289B-DB52-D4ADC5D9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A1D1E4-9F64-8FE8-F430-88BCB234F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A83CBE-C8CA-B2BF-3680-1B5CE0F7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0D824-0AAE-4B12-9676-8C666F0B1617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AF788F-FFA4-8C65-F32F-489AF3A5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9E52BC-09CA-C739-5EAE-66ABD3FB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06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449E7-6078-67DA-48F2-D09104E3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8CC6C7-7D3D-9CE4-18A8-1955CDBDD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2DEBA5-B78C-7B2E-D329-CF2104FAA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50B8C6-E66F-3C3F-8918-F094BFF6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A84B-66B0-46CF-B35A-78474FC012A0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8E18BC-5B21-666B-2EFB-6C6B8517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D99B8E-0B8A-A079-EB57-67614B31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0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A1BB0-80C7-9111-E210-1C585E9C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852CCA-7972-E837-6902-EAD517980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2F5CAF-FBBA-2EAB-F607-CB5EBF35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CE8DBB-81B6-0EF0-68C4-015345276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228E5F-55DA-5C72-DC0E-3DBA048CF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3E79D3-D46D-99D1-6323-DD53AF73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08A3-AABE-4ACC-B313-B92EE839D3C4}" type="datetime1">
              <a:rPr lang="ru-RU" smtClean="0"/>
              <a:t>26.05.2025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76A667-9609-9AB8-6E5D-DEF6DB27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9123ED-8C71-E3CB-25BD-EA96C424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5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3E129-7EDF-48F9-74D5-2A6B55DA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C39708-F704-ED37-D284-0D21C99A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FF5C8-D4E9-400E-B9BB-6E35111E75CC}" type="datetime1">
              <a:rPr lang="ru-RU" smtClean="0"/>
              <a:t>26.05.2025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265907-73D8-C2BE-04BE-F6448AF5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EF94F4-8F2F-8A2C-98DB-9D5270B8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59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A05424-897D-BBF0-FCA2-37BB2AFE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2489-D6F5-430D-A5F4-B498333D70E3}" type="datetime1">
              <a:rPr lang="ru-RU" smtClean="0"/>
              <a:t>26.05.2025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8FE47B4-984A-A428-8A37-A66D5B8D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189033-DC6E-4F16-B7B0-530CB6BD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13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A03D5-B5C7-E8D5-688D-23E94513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BB0C69-36F3-DBD6-0D1B-FB761ECE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E1C667-9FDB-4C63-88F4-BBF79554F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0F45DC-735A-F7E1-AECB-14B7CFB8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E8352-F52F-4E9E-AFBC-F4F08FF62E50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6DA3FD-3E66-D48C-CE46-6780B82F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41EAD0-DCD9-5F16-1622-E1FF2386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09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0468E-B516-6651-729A-587D3914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27E9C7-4528-DC2C-E8EE-0E9D8AFB2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F7E6FC-7314-2A78-5FD5-B359A7D0B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0350C4-7E25-8D9E-B8B3-4A68CE9E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2C8E-A31F-42C9-AC1C-99DAF90CC9C3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9861C7-9A91-DCFF-F285-A8511354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204750-CADD-1F7C-F16A-1AA7CED8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21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D4F92-33DC-9038-3061-72D80BF3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3BF4D1-DA7D-C703-83CB-20E446980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C63C97-CF13-C8CE-A222-7CAC364C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11CF4-6A2E-4E76-8F2A-52E1F80D0F31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AB14A-1D81-4EEF-5678-B739ECC4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41423E-1C48-2089-28B5-4AC79531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6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E9E834-DB4C-ACA1-4885-A54463D8A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80EF30-3BF8-C8BE-082C-BFF94B7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C425B-3FB4-30C1-D90A-845E16FC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6C08-57FE-401E-9BC8-7563739950B3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8490EE-0F57-DE86-C636-79535209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7BCAB0-8570-1A6E-1184-A94CBB95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6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27823-09ED-BF24-0C2B-C6FB02A2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44AA1-45B4-6377-48B6-3E008311D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3F3C8-E682-FE03-6CAD-BD1ACF13F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8D985-613B-4DEE-9D35-A3C87BBE113F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E9DF2-1ACE-8A64-C45D-9A9D903DA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D1981-6C23-C7AF-3D4A-1C7EAF472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E4BF1-0FE0-413C-ABFA-DB3E0C591B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30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E9643-5119-8F4E-766C-08E540E48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63"/>
            <a:ext cx="9144000" cy="649331"/>
          </a:xfrm>
        </p:spPr>
        <p:txBody>
          <a:bodyPr>
            <a:normAutofit fontScale="90000"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по теме «Excel»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424C1-0DA7-CA21-3C06-0CFC29E05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50" y="5024438"/>
            <a:ext cx="3219450" cy="523220"/>
          </a:xfrm>
        </p:spPr>
        <p:txBody>
          <a:bodyPr>
            <a:normAutofit/>
          </a:bodyPr>
          <a:lstStyle/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Казаков Роман Евгеньевич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Факультет: Аналитика данных 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2EA1F-1D71-B9EE-5320-05FB1BF5CBFE}"/>
              </a:ext>
            </a:extLst>
          </p:cNvPr>
          <p:cNvSpPr txBox="1"/>
          <p:nvPr/>
        </p:nvSpPr>
        <p:spPr>
          <a:xfrm>
            <a:off x="646399" y="1981200"/>
            <a:ext cx="10899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работы торговых точек сети </a:t>
            </a:r>
            <a:r>
              <a:rPr lang="en-GB" sz="2400" b="0" i="0" dirty="0" err="1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SkyCrossroads</a:t>
            </a:r>
            <a:r>
              <a:rPr lang="ru-RU" sz="24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период 01-07 сентября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F7B24-5E1A-D897-4574-99C17D4BCF9E}"/>
              </a:ext>
            </a:extLst>
          </p:cNvPr>
          <p:cNvSpPr txBox="1"/>
          <p:nvPr/>
        </p:nvSpPr>
        <p:spPr>
          <a:xfrm>
            <a:off x="5582558" y="6217205"/>
            <a:ext cx="841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2025 год</a:t>
            </a:r>
          </a:p>
        </p:txBody>
      </p:sp>
    </p:spTree>
    <p:extLst>
      <p:ext uri="{BB962C8B-B14F-4D97-AF65-F5344CB8AC3E}">
        <p14:creationId xmlns:p14="http://schemas.microsoft.com/office/powerpoint/2010/main" val="85927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DA9B6-C688-C1FF-E76A-B327AEA49E4B}"/>
              </a:ext>
            </a:extLst>
          </p:cNvPr>
          <p:cNvSpPr txBox="1"/>
          <p:nvPr/>
        </p:nvSpPr>
        <p:spPr>
          <a:xfrm>
            <a:off x="219075" y="82550"/>
            <a:ext cx="117538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Содержание: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Ⅰ Инциденты</a:t>
            </a:r>
          </a:p>
          <a:p>
            <a:pPr algn="l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произошел рост кол-ва транзакций за 01-04.09 - проверить, какие точки принесли прирост.</a:t>
            </a:r>
          </a:p>
          <a:p>
            <a:pPr algn="l">
              <a:buNone/>
            </a:pPr>
            <a:r>
              <a:rPr lang="ru-RU" sz="1200" dirty="0">
                <a:solidFill>
                  <a:srgbClr val="242D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гипотезу - д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райвером роста является одна или несколько точек, возможно «драйвер» «пожрал» другие торговые точки.</a:t>
            </a:r>
          </a:p>
          <a:p>
            <a:pPr algn="l">
              <a:buNone/>
            </a:pPr>
            <a:endParaRPr lang="ru-RU" sz="1200" dirty="0">
              <a:solidFill>
                <a:srgbClr val="242D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обнаружили проблемы с распределением нагрузки на сервера. Исследуем динамику нагрузки и предлагаем вариант решения.</a:t>
            </a:r>
          </a:p>
          <a:p>
            <a:pPr algn="l">
              <a:buNone/>
            </a:pP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гипотезу - повышение нагрузки связано с ростом кол-ва транзакций, равномерность можно «полечить» «перепривязав» торговые точки к другим серверам.</a:t>
            </a:r>
          </a:p>
          <a:p>
            <a:endParaRPr lang="ru-RU" sz="1200" b="0" i="0" dirty="0">
              <a:solidFill>
                <a:srgbClr val="242D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рассчитать, какой процент операций самообслуживания по торговым точкам, изучить динамику их доли и соотнести с динамикой распределения операций по точкам. Рассчитать длительность операций и построить их динамику, определить, на сколько в среднем операция самообслуживания занимает больше времени.</a:t>
            </a:r>
          </a:p>
          <a:p>
            <a:pPr algn="l">
              <a:buNone/>
            </a:pP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гипотезу - рост количества операций самообслуживания увеличивает среднюю длительность операции. </a:t>
            </a:r>
          </a:p>
          <a:p>
            <a:pPr algn="l"/>
            <a:endParaRPr lang="ru-RU" sz="1200" dirty="0">
              <a:solidFill>
                <a:srgbClr val="242D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200" b="1" dirty="0">
                <a:solidFill>
                  <a:srgbClr val="242D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</a:t>
            </a:r>
            <a:r>
              <a:rPr lang="ru-RU" sz="1200" dirty="0">
                <a:solidFill>
                  <a:srgbClr val="242D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выяснить, когда и на каких точках 1 сентября происходят резкие изменения в средней продолжительности операций, определить основные причины изменений.</a:t>
            </a:r>
            <a:endParaRPr lang="ru-RU" sz="1200" b="0" i="0" dirty="0">
              <a:solidFill>
                <a:srgbClr val="242D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уточнить по поступившим от разработчиков звеньям с т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ехническими проблемами, насколько серьезно эти проблемы повысили длительность операции относительно среднестатистических значений.</a:t>
            </a:r>
          </a:p>
          <a:p>
            <a:pPr algn="l">
              <a:buNone/>
            </a:pPr>
            <a:r>
              <a:rPr lang="ru-RU" sz="120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Сиреневый — сервер 1 в период с 00:00 по 9:00 в день 05.09; Оранжевый — сервер 2 в период 12.00-13.00 в день 07.09; Красный — сервер 1 в течение 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всего дня 06.09</a:t>
            </a:r>
          </a:p>
          <a:p>
            <a:pPr algn="l"/>
            <a:endParaRPr lang="ru-RU" sz="1200" dirty="0">
              <a:solidFill>
                <a:srgbClr val="242D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200" b="1" dirty="0">
                <a:solidFill>
                  <a:srgbClr val="242D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Ⅱ Маркетинговые активности</a:t>
            </a:r>
          </a:p>
          <a:p>
            <a:pPr algn="l">
              <a:buNone/>
            </a:pPr>
            <a:r>
              <a:rPr lang="ru-RU" sz="1200" b="1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6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- 07.09 действовала акция - любой предъявитель карты лояльности за покупку свыше 15.000 руб. получал </a:t>
            </a:r>
            <a:r>
              <a:rPr lang="ru-RU" sz="1200" b="0" i="0" dirty="0" err="1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доп.подарок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Оценить, на сколько процентов поднялся средний чек за период акции, увеличилось ли общее количество операций. Рассчитать, покрыл ли </a:t>
            </a:r>
            <a:r>
              <a:rPr lang="ru-RU" sz="1200" b="0" i="0" dirty="0" err="1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аплифт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среднего чека расходы на лотерею, суммарный объем прибыли.</a:t>
            </a:r>
          </a:p>
          <a:p>
            <a:pPr algn="l">
              <a:buNone/>
            </a:pP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Подарок разыгрывался в формате лотереи:</a:t>
            </a:r>
          </a:p>
          <a:p>
            <a:pPr algn="l"/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Пятеро случайно выбранных счастливчиков – подарок за 50.000 рублей; еще десятеро - подарок за 10.000 рублей; все остальные - подарок за 750 рублей</a:t>
            </a:r>
          </a:p>
          <a:p>
            <a:pPr algn="l"/>
            <a:endParaRPr lang="ru-RU" sz="1200" b="0" i="0" dirty="0">
              <a:solidFill>
                <a:srgbClr val="242D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7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оценить,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теряем в день из-за лояльности (в среднем на одну транзакцию) за период 05.09 — 07.09.</a:t>
            </a:r>
          </a:p>
          <a:p>
            <a:endParaRPr lang="ru-RU" sz="1200" dirty="0">
              <a:solidFill>
                <a:srgbClr val="0F11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8</a:t>
            </a:r>
            <a:r>
              <a:rPr lang="ru-RU" sz="1200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сегментацию скидок лояльности: разбить на </a:t>
            </a:r>
            <a:r>
              <a:rPr lang="ru-RU" sz="1200" b="0" i="0" dirty="0" err="1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бины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(интервалы) и оценить, сколько денег суммарно экономят клиенты в рамках каждого </a:t>
            </a:r>
            <a:r>
              <a:rPr lang="ru-RU" sz="1200" b="0" i="0" dirty="0" err="1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бина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1200" b="0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9</a:t>
            </a:r>
            <a:r>
              <a:rPr lang="ru-RU" sz="1200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рассчитать экономию при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понижении всех скидок свыше 3% по программам лояльности на 1 процентный пункт.</a:t>
            </a:r>
            <a:b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200" b="0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10</a:t>
            </a:r>
            <a:r>
              <a:rPr lang="ru-RU" sz="1200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отобразить предоставленную п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ровайдером серверов за все транзакции сверх 10 000 штук по серверу в неделю скидку: 1 сервер - 6 коп./операция, 2 сервер - 8 коп./операция, 3 сервер - 2 коп./операция.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200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ассчитать суммарные денежные затраты на проведение транзакций в торговых точках.</a:t>
            </a:r>
            <a:endParaRPr lang="ru-RU" sz="1200" b="0" i="0" dirty="0">
              <a:solidFill>
                <a:srgbClr val="242D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023CAE-46C1-ABF3-1C3D-03B40FE8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7ED53C-D361-F7DD-48A6-BFECBAA2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18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DFE8-3FBB-259A-EAC1-C6D095D4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3B955-7EE3-C7E8-817F-779CAC7B5FE9}"/>
              </a:ext>
            </a:extLst>
          </p:cNvPr>
          <p:cNvSpPr txBox="1"/>
          <p:nvPr/>
        </p:nvSpPr>
        <p:spPr>
          <a:xfrm>
            <a:off x="219075" y="82550"/>
            <a:ext cx="117538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Содержание: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Ⅲ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11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200" dirty="0">
                <a:solidFill>
                  <a:srgbClr val="242D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параметризованный график с динамикой кол-ва транзакций и среднего платежа по дням с возможностью выбора торговой точки в выпадающем списке.</a:t>
            </a:r>
          </a:p>
          <a:p>
            <a:pPr algn="l">
              <a:buNone/>
            </a:pPr>
            <a:endParaRPr lang="ru-RU" sz="1200" dirty="0">
              <a:solidFill>
                <a:srgbClr val="242D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1200" b="1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12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20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параметризованный график с суммой платежей, количеством транзакций и средним платежом в данном сегменте.</a:t>
            </a:r>
          </a:p>
          <a:p>
            <a:pPr algn="l">
              <a:buNone/>
            </a:pPr>
            <a:endParaRPr lang="ru-RU" sz="1200" b="0" i="0" dirty="0">
              <a:solidFill>
                <a:srgbClr val="242D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13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создать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</a:t>
            </a:r>
            <a:r>
              <a:rPr lang="ru-RU" sz="1200" b="0" i="0" dirty="0">
                <a:solidFill>
                  <a:srgbClr val="242D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водная + график с динамикой количества транзакций по дням; сводная + график с динамикой (по дням) суммарных платежей в разбивке по платежным системам.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DF0C52-D74F-5136-0CFC-65BBAE78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4CBE6C0-EF81-2ADF-9F8C-E25F5FEA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20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18DCF9EB-7C75-151A-F2B9-C0577722DB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5616857"/>
              </p:ext>
            </p:extLst>
          </p:nvPr>
        </p:nvGraphicFramePr>
        <p:xfrm>
          <a:off x="242888" y="172243"/>
          <a:ext cx="7554912" cy="6285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BABCEBF-6478-7395-56F7-348761672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36028"/>
              </p:ext>
            </p:extLst>
          </p:nvPr>
        </p:nvGraphicFramePr>
        <p:xfrm>
          <a:off x="8328025" y="1958975"/>
          <a:ext cx="3457575" cy="1503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7575">
                  <a:extLst>
                    <a:ext uri="{9D8B030D-6E8A-4147-A177-3AD203B41FA5}">
                      <a16:colId xmlns:a16="http://schemas.microsoft.com/office/drawing/2014/main" val="1445229125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открытия 03.09 рост операций по торговой точке</a:t>
                      </a:r>
                    </a:p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"ул. Чертановская, 20к2",</a:t>
                      </a:r>
                    </a:p>
                    <a:p>
                      <a:pPr algn="ctr" fontAlgn="b"/>
                      <a:endParaRPr lang="ru-RU" sz="14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т.ч. за счет "Симферопольский б-р, 22"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7448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328CD3-FF8B-B311-93C7-2B89ADF8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2ADCA-3823-56AA-8FE2-8457FD38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</a:t>
            </a:r>
          </a:p>
        </p:txBody>
      </p:sp>
    </p:spTree>
    <p:extLst>
      <p:ext uri="{BB962C8B-B14F-4D97-AF65-F5344CB8AC3E}">
        <p14:creationId xmlns:p14="http://schemas.microsoft.com/office/powerpoint/2010/main" val="234958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B90C377-C88B-BF16-DEBD-6C5F2724FD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824273"/>
              </p:ext>
            </p:extLst>
          </p:nvPr>
        </p:nvGraphicFramePr>
        <p:xfrm>
          <a:off x="393700" y="248285"/>
          <a:ext cx="5003800" cy="3545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B2594BF-68A7-9919-7252-BF8955CE0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308217"/>
              </p:ext>
            </p:extLst>
          </p:nvPr>
        </p:nvGraphicFramePr>
        <p:xfrm>
          <a:off x="393700" y="3793966"/>
          <a:ext cx="5003800" cy="862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3800">
                  <a:extLst>
                    <a:ext uri="{9D8B030D-6E8A-4147-A177-3AD203B41FA5}">
                      <a16:colId xmlns:a16="http://schemas.microsoft.com/office/drawing/2014/main" val="2348671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03.09 открытие точки "ул. Чертановская, 20к2"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 3 обслуживает  "ул. Чертановская, 20к2" и "Ракетный б-р, 14к1"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15428"/>
                  </a:ext>
                </a:extLst>
              </a:tr>
            </a:tbl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5044EA8B-BF56-5D58-2F30-FF8DDE7596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034504"/>
              </p:ext>
            </p:extLst>
          </p:nvPr>
        </p:nvGraphicFramePr>
        <p:xfrm>
          <a:off x="5997574" y="248285"/>
          <a:ext cx="5413376" cy="3545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16A44C9-7AFF-F4A7-CC6A-2EB932FF0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19447"/>
              </p:ext>
            </p:extLst>
          </p:nvPr>
        </p:nvGraphicFramePr>
        <p:xfrm>
          <a:off x="5997574" y="3793966"/>
          <a:ext cx="5803900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03900">
                  <a:extLst>
                    <a:ext uri="{9D8B030D-6E8A-4147-A177-3AD203B41FA5}">
                      <a16:colId xmlns:a16="http://schemas.microsoft.com/office/drawing/2014/main" val="4175467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перенесен "Ракетный б-р, 14к1" на сервер 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94001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31C23A-BA4E-C9C7-B533-56275747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35E3CA-9B96-3EC0-D6DD-FB8E607B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</a:t>
            </a:r>
          </a:p>
        </p:txBody>
      </p:sp>
    </p:spTree>
    <p:extLst>
      <p:ext uri="{BB962C8B-B14F-4D97-AF65-F5344CB8AC3E}">
        <p14:creationId xmlns:p14="http://schemas.microsoft.com/office/powerpoint/2010/main" val="297045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5FA1C1B0-9733-4C9D-9FC7-4D5EB7288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410700"/>
              </p:ext>
            </p:extLst>
          </p:nvPr>
        </p:nvGraphicFramePr>
        <p:xfrm>
          <a:off x="49212" y="57150"/>
          <a:ext cx="6357938" cy="45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0C77CC-E269-9FDF-9DB8-0E6AD700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DE97E-559A-59BB-DA9C-E45DF22B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A35C088C-CF72-E942-53BD-4EF86CB0EA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4828046"/>
              </p:ext>
            </p:extLst>
          </p:nvPr>
        </p:nvGraphicFramePr>
        <p:xfrm>
          <a:off x="6997700" y="57150"/>
          <a:ext cx="4611688" cy="318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E8F9D0BD-9859-F92A-94E3-D738EC0C0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458055"/>
              </p:ext>
            </p:extLst>
          </p:nvPr>
        </p:nvGraphicFramePr>
        <p:xfrm>
          <a:off x="6997700" y="3325019"/>
          <a:ext cx="4737100" cy="2951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B2803A6-B33C-5F9A-5593-0F0863AB3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0360"/>
              </p:ext>
            </p:extLst>
          </p:nvPr>
        </p:nvGraphicFramePr>
        <p:xfrm>
          <a:off x="1040606" y="4800600"/>
          <a:ext cx="437515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004">
                  <a:extLst>
                    <a:ext uri="{9D8B030D-6E8A-4147-A177-3AD203B41FA5}">
                      <a16:colId xmlns:a16="http://schemas.microsoft.com/office/drawing/2014/main" val="41664200"/>
                    </a:ext>
                  </a:extLst>
                </a:gridCol>
                <a:gridCol w="2508146">
                  <a:extLst>
                    <a:ext uri="{9D8B030D-6E8A-4147-A177-3AD203B41FA5}">
                      <a16:colId xmlns:a16="http://schemas.microsoft.com/office/drawing/2014/main" val="86460786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Флаг самообслуживания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Средняя длит. операции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9828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70,7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0719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154,6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94580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Общий итог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94,7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558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12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70DA5785-18ED-5DD5-57A9-036E091BA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172039"/>
              </p:ext>
            </p:extLst>
          </p:nvPr>
        </p:nvGraphicFramePr>
        <p:xfrm>
          <a:off x="401637" y="225821"/>
          <a:ext cx="7273925" cy="5285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7A81845E-D760-6A1B-6532-BDF84EC17D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241278"/>
              </p:ext>
            </p:extLst>
          </p:nvPr>
        </p:nvGraphicFramePr>
        <p:xfrm>
          <a:off x="7899400" y="3473450"/>
          <a:ext cx="4083050" cy="338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C23786-3264-2B56-51C6-D47E81C3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7D3DC-121B-5876-215F-1491A45B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86EC546-5133-30E4-9C4C-1317F0149C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8557528"/>
              </p:ext>
            </p:extLst>
          </p:nvPr>
        </p:nvGraphicFramePr>
        <p:xfrm>
          <a:off x="7899400" y="225821"/>
          <a:ext cx="4083050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5BEBDE-DEBB-CD77-5F95-04D0321A1270}"/>
              </a:ext>
            </a:extLst>
          </p:cNvPr>
          <p:cNvSpPr txBox="1"/>
          <p:nvPr/>
        </p:nvSpPr>
        <p:spPr>
          <a:xfrm>
            <a:off x="750679" y="5848350"/>
            <a:ext cx="6575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 на "пр-т Вернадского, 88к3", "Ленинский пр-т, 162/1", "ул. Щорса, 26/3"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96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BD9932C-FB14-221A-CE20-1141FBEB4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8619296"/>
              </p:ext>
            </p:extLst>
          </p:nvPr>
        </p:nvGraphicFramePr>
        <p:xfrm>
          <a:off x="6426200" y="259793"/>
          <a:ext cx="5340350" cy="5432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ED9940B-12E0-B778-A9F5-7FE1560F7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53056"/>
              </p:ext>
            </p:extLst>
          </p:nvPr>
        </p:nvGraphicFramePr>
        <p:xfrm>
          <a:off x="1345407" y="5287208"/>
          <a:ext cx="3930650" cy="649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0650">
                  <a:extLst>
                    <a:ext uri="{9D8B030D-6E8A-4147-A177-3AD203B41FA5}">
                      <a16:colId xmlns:a16="http://schemas.microsoft.com/office/drawing/2014/main" val="463114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видим увеличение кол-ва транзакций и более продолжительные во времени и более высокие скидки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543104"/>
                  </a:ext>
                </a:extLst>
              </a:tr>
            </a:tbl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8B418F26-D241-0F74-D55C-49F2AE9B9B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392474"/>
              </p:ext>
            </p:extLst>
          </p:nvPr>
        </p:nvGraphicFramePr>
        <p:xfrm>
          <a:off x="195263" y="259794"/>
          <a:ext cx="6230937" cy="4363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B6F0619-87F2-2384-D070-BD21017AA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26447"/>
              </p:ext>
            </p:extLst>
          </p:nvPr>
        </p:nvGraphicFramePr>
        <p:xfrm>
          <a:off x="770731" y="4599742"/>
          <a:ext cx="5079999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79999">
                  <a:extLst>
                    <a:ext uri="{9D8B030D-6E8A-4147-A177-3AD203B41FA5}">
                      <a16:colId xmlns:a16="http://schemas.microsoft.com/office/drawing/2014/main" val="811357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маркетинговая акция на "пр-т Вернадского, 88к3" и "Ленинский пр-т, 162/1" в промежутке с 11 до 15 часов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7444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A833D5-46AF-12AE-2A3A-91CB9ED2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2A60BA-8A20-76DD-1827-FFDE11FF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</a:t>
            </a:r>
          </a:p>
        </p:txBody>
      </p:sp>
    </p:spTree>
    <p:extLst>
      <p:ext uri="{BB962C8B-B14F-4D97-AF65-F5344CB8AC3E}">
        <p14:creationId xmlns:p14="http://schemas.microsoft.com/office/powerpoint/2010/main" val="4182690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5C7BE825-AF2F-6705-3B78-A064E83EF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9487952"/>
              </p:ext>
            </p:extLst>
          </p:nvPr>
        </p:nvGraphicFramePr>
        <p:xfrm>
          <a:off x="387349" y="297656"/>
          <a:ext cx="7029451" cy="5309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0DD85C4-8634-41A5-8599-912FEC6E4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812292"/>
              </p:ext>
            </p:extLst>
          </p:nvPr>
        </p:nvGraphicFramePr>
        <p:xfrm>
          <a:off x="7689851" y="641350"/>
          <a:ext cx="4114800" cy="2787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503443596"/>
                    </a:ext>
                  </a:extLst>
                </a:gridCol>
              </a:tblGrid>
              <a:tr h="278765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18 до 23 проблемы только по платежной системе "MasterCard«</a:t>
                      </a: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03 до 06 проблемы со связью на </a:t>
                      </a:r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"ул. Щорса, 26/3"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91705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4D697F-0B40-8DCD-F88A-0D432C08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07F708-AF68-1F68-F762-4061BFE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</a:t>
            </a:r>
          </a:p>
        </p:txBody>
      </p:sp>
    </p:spTree>
    <p:extLst>
      <p:ext uri="{BB962C8B-B14F-4D97-AF65-F5344CB8AC3E}">
        <p14:creationId xmlns:p14="http://schemas.microsoft.com/office/powerpoint/2010/main" val="3229724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BD7359E9-B08E-2169-42FC-1D974B37C9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8066976"/>
              </p:ext>
            </p:extLst>
          </p:nvPr>
        </p:nvGraphicFramePr>
        <p:xfrm>
          <a:off x="546100" y="180497"/>
          <a:ext cx="3238500" cy="2201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FD4393A-BAFA-8E47-AFD2-627CCA7D0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193988"/>
              </p:ext>
            </p:extLst>
          </p:nvPr>
        </p:nvGraphicFramePr>
        <p:xfrm>
          <a:off x="546100" y="2381567"/>
          <a:ext cx="32385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832555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серверу 1 06.09 - превышение на 23,59%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643121"/>
                  </a:ext>
                </a:extLst>
              </a:tr>
            </a:tbl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55A7E22-2EDA-DE36-49CC-3FC86991D6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0750559"/>
              </p:ext>
            </p:extLst>
          </p:nvPr>
        </p:nvGraphicFramePr>
        <p:xfrm>
          <a:off x="7785100" y="3210877"/>
          <a:ext cx="3568700" cy="2233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38815E9-1179-3E70-C1D5-AA725A94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10970"/>
              </p:ext>
            </p:extLst>
          </p:nvPr>
        </p:nvGraphicFramePr>
        <p:xfrm>
          <a:off x="7950200" y="5464015"/>
          <a:ext cx="32385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1279215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серверу 2 с 12 до 13 07.09 - превышение на 69,05%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311054"/>
                  </a:ext>
                </a:extLst>
              </a:tr>
            </a:tbl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DD54D31-2D3D-EFFF-0D77-447AC4DD02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6614585"/>
              </p:ext>
            </p:extLst>
          </p:nvPr>
        </p:nvGraphicFramePr>
        <p:xfrm>
          <a:off x="3784600" y="1671239"/>
          <a:ext cx="3771900" cy="2293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7565668-7D67-1660-58FE-CAA6FB336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33286"/>
              </p:ext>
            </p:extLst>
          </p:nvPr>
        </p:nvGraphicFramePr>
        <p:xfrm>
          <a:off x="4051300" y="4109402"/>
          <a:ext cx="32385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3911336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серверу 1 с 00 до 09 05.09 - превышение на 46,46%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780840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84C545F-BB90-76D0-10A7-C96A589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10</a:t>
            </a:fld>
            <a:endParaRPr lang="ru-RU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AEFC5E4B-A629-F5E5-E045-4E63E3C6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</a:t>
            </a:r>
          </a:p>
        </p:txBody>
      </p:sp>
    </p:spTree>
    <p:extLst>
      <p:ext uri="{BB962C8B-B14F-4D97-AF65-F5344CB8AC3E}">
        <p14:creationId xmlns:p14="http://schemas.microsoft.com/office/powerpoint/2010/main" val="420786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42881-94EF-9F38-03C0-70FF47007131}"/>
              </a:ext>
            </a:extLst>
          </p:cNvPr>
          <p:cNvSpPr txBox="1"/>
          <p:nvPr/>
        </p:nvSpPr>
        <p:spPr>
          <a:xfrm>
            <a:off x="4575769" y="136525"/>
            <a:ext cx="2885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Маркетинговая акция 07.09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64320F-E67C-E88A-FD15-632CB0D1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36E436-A17B-5350-D8F6-9DC1D120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6 и 7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9895087-CC4C-2DCC-1839-14CE20AC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47700"/>
            <a:ext cx="112204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95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1D425810-C208-9A6B-AAAD-8076E87004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4827668"/>
              </p:ext>
            </p:extLst>
          </p:nvPr>
        </p:nvGraphicFramePr>
        <p:xfrm>
          <a:off x="1847850" y="814784"/>
          <a:ext cx="8496300" cy="5228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09DF02-F03E-93E6-6FD6-90EC6AF8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2D7884-113E-FB59-FE8D-D20C5A01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8</a:t>
            </a:r>
          </a:p>
        </p:txBody>
      </p:sp>
    </p:spTree>
    <p:extLst>
      <p:ext uri="{BB962C8B-B14F-4D97-AF65-F5344CB8AC3E}">
        <p14:creationId xmlns:p14="http://schemas.microsoft.com/office/powerpoint/2010/main" val="18911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CDB52B9-1052-74CB-88EE-33907F22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9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331DA8-17D1-6E31-D39A-EC3B85D9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3630BE-6D22-6989-8135-3F96F5F3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5434"/>
            <a:ext cx="12192000" cy="125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6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53B0E2-C08F-2EF0-550D-02A6C9A7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6DA8E1-F788-0095-C361-02DF0B95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10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EBB194B-9FC7-964F-D765-0511C6B2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3037"/>
              </p:ext>
            </p:extLst>
          </p:nvPr>
        </p:nvGraphicFramePr>
        <p:xfrm>
          <a:off x="891048" y="1000478"/>
          <a:ext cx="3420604" cy="650678"/>
        </p:xfrm>
        <a:graphic>
          <a:graphicData uri="http://schemas.openxmlformats.org/drawingml/2006/table">
            <a:tbl>
              <a:tblPr/>
              <a:tblGrid>
                <a:gridCol w="855151">
                  <a:extLst>
                    <a:ext uri="{9D8B030D-6E8A-4147-A177-3AD203B41FA5}">
                      <a16:colId xmlns:a16="http://schemas.microsoft.com/office/drawing/2014/main" val="2998668534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2316393854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1001195827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3515807733"/>
                    </a:ext>
                  </a:extLst>
                </a:gridCol>
              </a:tblGrid>
              <a:tr h="402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операций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527395"/>
                  </a:ext>
                </a:extLst>
              </a:tr>
              <a:tr h="2478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R_01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1 542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3 816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2 088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08366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D5C4F40-F8C6-B044-DAB4-399C2068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80878"/>
              </p:ext>
            </p:extLst>
          </p:nvPr>
        </p:nvGraphicFramePr>
        <p:xfrm>
          <a:off x="891048" y="1659452"/>
          <a:ext cx="3420604" cy="4363263"/>
        </p:xfrm>
        <a:graphic>
          <a:graphicData uri="http://schemas.openxmlformats.org/drawingml/2006/table">
            <a:tbl>
              <a:tblPr/>
              <a:tblGrid>
                <a:gridCol w="855151">
                  <a:extLst>
                    <a:ext uri="{9D8B030D-6E8A-4147-A177-3AD203B41FA5}">
                      <a16:colId xmlns:a16="http://schemas.microsoft.com/office/drawing/2014/main" val="2951279988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2586874601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2103600266"/>
                    </a:ext>
                  </a:extLst>
                </a:gridCol>
                <a:gridCol w="855151">
                  <a:extLst>
                    <a:ext uri="{9D8B030D-6E8A-4147-A177-3AD203B41FA5}">
                      <a16:colId xmlns:a16="http://schemas.microsoft.com/office/drawing/2014/main" val="1988883887"/>
                    </a:ext>
                  </a:extLst>
                </a:gridCol>
              </a:tblGrid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R_02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5 825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17 094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14 471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36507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R_20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2 634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7 495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6 179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715631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AM_01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533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58171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AM_02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183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400003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EU_01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429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701325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EU_02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91120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KZ_01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395970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KZ_02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654851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KZ_20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53345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A_01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 </a:t>
                      </a:r>
                    </a:p>
                  </a:txBody>
                  <a:tcPr marL="62760" marR="62760" marT="31380" marB="3138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103285"/>
                  </a:ext>
                </a:extLst>
              </a:tr>
              <a:tr h="4602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 операций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10 622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30 269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24 159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562053"/>
                  </a:ext>
                </a:extLst>
              </a:tr>
              <a:tr h="4602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Операций со скидкой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622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20 269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14 159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500448"/>
                  </a:ext>
                </a:extLst>
              </a:tr>
              <a:tr h="564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Скидка за 1 операцию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0,06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0,08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989049"/>
                  </a:ext>
                </a:extLst>
              </a:tr>
              <a:tr h="355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скидки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р.37,32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р.1 621,52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р.283,18 </a:t>
                      </a:r>
                    </a:p>
                  </a:txBody>
                  <a:tcPr marL="62760" marR="62760" marT="31380" marB="3138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468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55BCFA0-BD25-DF21-4DD7-986860E09EAE}"/>
              </a:ext>
            </a:extLst>
          </p:cNvPr>
          <p:cNvSpPr txBox="1"/>
          <p:nvPr/>
        </p:nvSpPr>
        <p:spPr>
          <a:xfrm>
            <a:off x="4180668" y="359066"/>
            <a:ext cx="3830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Скидка провайдера инфраструктуры (серверов)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760A3-D7CD-A317-E85B-FB70BB1BA35D}"/>
              </a:ext>
            </a:extLst>
          </p:cNvPr>
          <p:cNvSpPr txBox="1"/>
          <p:nvPr/>
        </p:nvSpPr>
        <p:spPr>
          <a:xfrm>
            <a:off x="5619750" y="5714938"/>
            <a:ext cx="350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 затраты с учетом скидки: 39 496 руб.</a:t>
            </a:r>
          </a:p>
        </p:txBody>
      </p:sp>
    </p:spTree>
    <p:extLst>
      <p:ext uri="{BB962C8B-B14F-4D97-AF65-F5344CB8AC3E}">
        <p14:creationId xmlns:p14="http://schemas.microsoft.com/office/powerpoint/2010/main" val="2870039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329A85-FEC7-931E-DB9B-14B63AAAA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90" y="707635"/>
            <a:ext cx="8927820" cy="43041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B90FE6-70FF-733E-7ACA-278BCD90F510}"/>
              </a:ext>
            </a:extLst>
          </p:cNvPr>
          <p:cNvSpPr txBox="1"/>
          <p:nvPr/>
        </p:nvSpPr>
        <p:spPr>
          <a:xfrm>
            <a:off x="5328001" y="120650"/>
            <a:ext cx="1951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8606A-1393-B4AA-B6CF-C4AA077B60DD}"/>
              </a:ext>
            </a:extLst>
          </p:cNvPr>
          <p:cNvSpPr txBox="1"/>
          <p:nvPr/>
        </p:nvSpPr>
        <p:spPr>
          <a:xfrm>
            <a:off x="10678657" y="45915"/>
            <a:ext cx="1432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операций по выбранным параметрам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2AC7DD96-E52B-E028-41C1-82F63DAEBC2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754965" y="522969"/>
            <a:ext cx="4923692" cy="43827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78E89F7-5719-CFB5-92A3-9FBB71E4479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617200" y="1000022"/>
            <a:ext cx="777873" cy="43358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E96A54-60E6-F06E-D6A4-7E055244B289}"/>
              </a:ext>
            </a:extLst>
          </p:cNvPr>
          <p:cNvSpPr txBox="1"/>
          <p:nvPr/>
        </p:nvSpPr>
        <p:spPr>
          <a:xfrm>
            <a:off x="9309531" y="5196496"/>
            <a:ext cx="208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Суммарные платежи по выбранным параметрам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1CA9568-4326-7722-E1AB-11171577F526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9965212" y="4701234"/>
            <a:ext cx="387090" cy="4952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BAF9D9B-4E4B-825A-5E3C-6214F16719A8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6260123" y="4117997"/>
            <a:ext cx="3049408" cy="134010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A60E1A-6621-2660-587A-67C0FC44511E}"/>
              </a:ext>
            </a:extLst>
          </p:cNvPr>
          <p:cNvSpPr txBox="1"/>
          <p:nvPr/>
        </p:nvSpPr>
        <p:spPr>
          <a:xfrm>
            <a:off x="-10862" y="411219"/>
            <a:ext cx="2026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параметры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0E453E6-D57E-F503-E4AF-9D130B9CC66F}"/>
              </a:ext>
            </a:extLst>
          </p:cNvPr>
          <p:cNvSpPr/>
          <p:nvPr/>
        </p:nvSpPr>
        <p:spPr>
          <a:xfrm>
            <a:off x="1626147" y="808105"/>
            <a:ext cx="2000250" cy="89479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56C034-4264-F4DC-151F-C298D76531DE}"/>
              </a:ext>
            </a:extLst>
          </p:cNvPr>
          <p:cNvSpPr txBox="1"/>
          <p:nvPr/>
        </p:nvSpPr>
        <p:spPr>
          <a:xfrm>
            <a:off x="-10862" y="1279723"/>
            <a:ext cx="1634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операций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82ED9-CD00-AEFA-346C-89E99CB58F36}"/>
              </a:ext>
            </a:extLst>
          </p:cNvPr>
          <p:cNvSpPr txBox="1"/>
          <p:nvPr/>
        </p:nvSpPr>
        <p:spPr>
          <a:xfrm>
            <a:off x="-7464" y="1082510"/>
            <a:ext cx="1536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Валюта операций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1FF538-7104-F8C5-9F32-6E0C5B5C643A}"/>
              </a:ext>
            </a:extLst>
          </p:cNvPr>
          <p:cNvSpPr txBox="1"/>
          <p:nvPr/>
        </p:nvSpPr>
        <p:spPr>
          <a:xfrm>
            <a:off x="-9898" y="753681"/>
            <a:ext cx="1402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магазина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402192-7541-9F35-1288-31A65C3B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15</a:t>
            </a:fld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4C8BD946-1A3C-E82D-4E0F-78E4B118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11, 12, 13</a:t>
            </a:r>
          </a:p>
        </p:txBody>
      </p:sp>
    </p:spTree>
    <p:extLst>
      <p:ext uri="{BB962C8B-B14F-4D97-AF65-F5344CB8AC3E}">
        <p14:creationId xmlns:p14="http://schemas.microsoft.com/office/powerpoint/2010/main" val="2879162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18EA953-4486-E302-207F-053AED0D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11, 12, 13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F2D6FCA-B58D-93E0-856B-2AF8A5B1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4BF1-0FE0-413C-ABFA-DB3E0C591B13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112C9-40AC-B4A8-2101-BB24A42A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06" y="972614"/>
            <a:ext cx="8027988" cy="491277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A2899A-7F35-CD9D-F818-52159BF033B9}"/>
              </a:ext>
            </a:extLst>
          </p:cNvPr>
          <p:cNvSpPr/>
          <p:nvPr/>
        </p:nvSpPr>
        <p:spPr>
          <a:xfrm>
            <a:off x="2082006" y="1134219"/>
            <a:ext cx="2611488" cy="94396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B5425-8E16-38E4-658F-E30EF56F6080}"/>
              </a:ext>
            </a:extLst>
          </p:cNvPr>
          <p:cNvSpPr txBox="1"/>
          <p:nvPr/>
        </p:nvSpPr>
        <p:spPr>
          <a:xfrm>
            <a:off x="0" y="664837"/>
            <a:ext cx="2026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параметры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E7D59-CBCB-3ADF-6009-6B275CAA4C93}"/>
              </a:ext>
            </a:extLst>
          </p:cNvPr>
          <p:cNvSpPr txBox="1"/>
          <p:nvPr/>
        </p:nvSpPr>
        <p:spPr>
          <a:xfrm>
            <a:off x="0" y="1073401"/>
            <a:ext cx="1402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магазина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064C9-A355-AA5B-21F6-E1DCB8FE3D00}"/>
              </a:ext>
            </a:extLst>
          </p:cNvPr>
          <p:cNvSpPr txBox="1"/>
          <p:nvPr/>
        </p:nvSpPr>
        <p:spPr>
          <a:xfrm>
            <a:off x="0" y="1592975"/>
            <a:ext cx="1572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Пей-код операций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A0B5B-DED9-C30F-C981-97EE8A6D882E}"/>
              </a:ext>
            </a:extLst>
          </p:cNvPr>
          <p:cNvSpPr txBox="1"/>
          <p:nvPr/>
        </p:nvSpPr>
        <p:spPr>
          <a:xfrm>
            <a:off x="-1" y="1847650"/>
            <a:ext cx="1674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Платежная система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F5393-28AC-FAB9-F2C2-19284304005E}"/>
              </a:ext>
            </a:extLst>
          </p:cNvPr>
          <p:cNvSpPr txBox="1"/>
          <p:nvPr/>
        </p:nvSpPr>
        <p:spPr>
          <a:xfrm>
            <a:off x="5784031" y="12202"/>
            <a:ext cx="1432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операций по выбранным параметрам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82C23B0-8464-E1A6-1D13-270621A0779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216862" y="489256"/>
            <a:ext cx="392481" cy="47705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0DFE16B-CECC-7A2D-79D5-ACBA8F659901}"/>
              </a:ext>
            </a:extLst>
          </p:cNvPr>
          <p:cNvCxnSpPr>
            <a:cxnSpLocks/>
            <a:stCxn id="5" idx="0"/>
          </p:cNvCxnSpPr>
          <p:nvPr/>
        </p:nvCxnSpPr>
        <p:spPr>
          <a:xfrm flipH="1">
            <a:off x="5946797" y="972614"/>
            <a:ext cx="149203" cy="239084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22EB4C-09CB-CB85-817E-D8C72DDF79DD}"/>
              </a:ext>
            </a:extLst>
          </p:cNvPr>
          <p:cNvSpPr txBox="1"/>
          <p:nvPr/>
        </p:nvSpPr>
        <p:spPr>
          <a:xfrm>
            <a:off x="10109994" y="2836374"/>
            <a:ext cx="208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платеж по выбранным параметрам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69067D2-4C2C-3D31-217F-105BE2EA036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930512" y="2155427"/>
            <a:ext cx="1222253" cy="68094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3F20466-F8A4-1DCC-10FD-3CE74022949E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9227127" y="2836374"/>
            <a:ext cx="1925638" cy="39280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1051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1122</Words>
  <Application>Microsoft Office PowerPoint</Application>
  <PresentationFormat>Широкоэкранный</PresentationFormat>
  <Paragraphs>226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Курсовая работа по теме «Excel»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Казаков</dc:creator>
  <cp:lastModifiedBy>Роман Казаков</cp:lastModifiedBy>
  <cp:revision>115</cp:revision>
  <dcterms:created xsi:type="dcterms:W3CDTF">2025-05-19T14:56:01Z</dcterms:created>
  <dcterms:modified xsi:type="dcterms:W3CDTF">2025-05-26T14:30:35Z</dcterms:modified>
</cp:coreProperties>
</file>